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Classic Hindi Literature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English using NLP / GenAI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Helsinki MarianMT with Samanantar &amp; LaBSE Quality Filtering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2816352"/>
            <a:ext cx="6400800" cy="45720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Aviral Kumar Goyal</a:t>
            </a:r>
            <a:pPr algn="ctr" indent="0" marL="0">
              <a:buNone/>
            </a:pPr>
            <a:r>
              <a:rPr lang="en-US" sz="1500" dirty="0">
                <a:solidFill>
                  <a:srgbClr val="A0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Scholar No.: 2025RCP9565
</a:t>
            </a:r>
            <a:pPr algn="ctr" indent="0" marL="0">
              <a:buNone/>
            </a:pPr>
            <a:r>
              <a:rPr lang="en-US" sz="1500" dirty="0">
                <a:solidFill>
                  <a:srgbClr val="A0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(21CST853)  ·  CSE, Malaviya NIT Jaipur  · 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spoken by over 600 million people, is written in the Devanagari script. Despite its scale, most scientific and professional content exists only in English, creating a critical linguistic divide. This project addresses that gap by improving Hindi-to-English neural machine translation (NMT) through Domain-Adaptive Pre-Training (DAPT) on a large, quality-filtered parallel corpus.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841248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(Helsinki MarianMT, Google Translate) struggle with literary Hindi — figurative language, Avadhi idioms, and rural dialects.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corpora are dominated by parliamentary/legal text; domain coverage is narrow.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DAPT on Samanantar (47.7M pairs) — filtered via LaBSE cosine similarity — broadens vocabulary and improves fluency.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the fixed 3,000-pair IIT Bombay benchmark + two Premchand short stories (public-domain).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reproducible: open Kaggle notebook, dual-T4 GPU, public datasets only.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Hindi source sentence x = (x₁,…,xₘ), produce a fluent English translation ŷ = argmax ∏ Pθ(yₜ|y&lt;t, x). The raw Helsinki baseline achieves SacreBLEU 12.01 — insufficient for literary text. The goal is to find improved parameters θ* via DAPT so that BLEU(θ*) &gt; BLEU(θ₀).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178308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783080"/>
            <a:ext cx="1664208" cy="1097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11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Obj-1  Data Quality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2203704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250K raw Samanantar pairs to 150K high-quality pairs using LaBSE cosine similarity ≥ 0.85.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15668" y="178308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15668" y="1783080"/>
            <a:ext cx="1664208" cy="1097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1388" y="1911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Obj-2  DAPT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79676" y="2203704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training opus-mt-inc-en on the filtered corpus to improve vocabulary coverage and domain generalisation.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02736" y="178308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02736" y="1783080"/>
            <a:ext cx="1664208" cy="1097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911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Obj-3  Benchmark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66744" y="2203704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fixed 3K-pair IIT Bombay test set; compare against three competing Helsinki variants.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89804" y="178308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9804" y="1783080"/>
            <a:ext cx="1664208" cy="1097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5524" y="1911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Obj-4  Literary Eval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53812" y="2203704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Qualitatively assess translations of Premchand's Poos Ki Raat &amp; Do Bailon Ki Katha.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76872" y="1783080"/>
            <a:ext cx="166420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76872" y="1783080"/>
            <a:ext cx="1664208" cy="1097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1911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Obj-5  Reproducibility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0" y="2203704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runnable Kaggle notebook with only public datasets and free compute (dual T4).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Hindi→English NMT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pipeline combines three data sources with two training stages. Samanantar provides broad language coverage; IIT Bombay provides domain-specific supervision; the Helsinki base model contributes strong multilingual pre-training. LaBSE filtering removes ≈15% noisy pairs before DAPT.</a:t>
            </a:r>
            <a:endParaRPr lang="en-US" sz="1300" dirty="0"/>
          </a:p>
        </p:txBody>
      </p:sp>
      <p:pic>
        <p:nvPicPr>
          <p:cNvPr id="6" name="Image 0" descr="/home/claude/report_work/figs/fig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27632"/>
            <a:ext cx="850392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— Helsinki MarianMT (opus-mt-inc-en)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Helsinki-NLP/opus-mt-inc-en is a MarianMT encoder-decoder transformer trained on the OPUS parallel corpus covering the full Indic language family. It uses a SentencePiece BPE tokeniser and the Marian NMT framework. The &gt;&gt;hi&lt;&lt; source-language prefix activates the correct language pathway through the shared encoder.</a:t>
            </a:r>
            <a:endParaRPr lang="en-US" sz="1300" dirty="0"/>
          </a:p>
        </p:txBody>
      </p:sp>
      <p:pic>
        <p:nvPicPr>
          <p:cNvPr id="6" name="Image 0" descr="/home/claude/report_work/figs/fig4_mode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27632"/>
            <a:ext cx="69494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LaBSE Quality Filtering — Cleaning the Samanantar Corpus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web-crawled parallel data contains misaligned or mistranslated pairs — "crawl noise" — which poisons gradient updates. LaBSE encodes each Hindi–English pair into a shared 384-dimensional space and computes cosine similarity. Pairs below τ = 0.85 are discarded, removing ≈15% noise and yielding a 212K high-quality pool.</a:t>
            </a:r>
            <a:endParaRPr lang="en-US" sz="1300" dirty="0"/>
          </a:p>
        </p:txBody>
      </p:sp>
      <p:pic>
        <p:nvPicPr>
          <p:cNvPr id="6" name="Image 0" descr="/home/claude/report_work/figs/fig5_lab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27632"/>
            <a:ext cx="850392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flows from raw corpus ingestion through quality filtering and DAPT pre-training to benchmark evaluation and literary qualitative testing. Key hyperparameters: LR = 5×10⁻⁵, Adafactor, FP16, batch = 64, 1 epoch, beam = 12, length penalty = 0.6, no-repeat n-gram = 3.</a:t>
            </a:r>
            <a:endParaRPr lang="en-US" sz="1300" dirty="0"/>
          </a:p>
        </p:txBody>
      </p:sp>
      <p:pic>
        <p:nvPicPr>
          <p:cNvPr id="6" name="Image 0" descr="/home/claude/report_work/figs/fig3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572768"/>
            <a:ext cx="877824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— Helsinki-Only BLEU Benchmark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pic>
        <p:nvPicPr>
          <p:cNvPr id="5" name="Image 0" descr="/home/claude/report_work/figs/fig2_bleu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5486400" cy="33649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804672"/>
            <a:ext cx="3108960" cy="713232"/>
          </a:xfrm>
          <a:prstGeom prst="rect">
            <a:avLst/>
          </a:prstGeom>
          <a:solidFill>
            <a:srgbClr val="4A86B8"/>
          </a:solidFill>
          <a:ln w="12700">
            <a:solidFill>
              <a:srgbClr val="4A86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8595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BLEU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13385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806440" y="1609344"/>
            <a:ext cx="3108960" cy="713232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16642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BLEU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193852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15.77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06440" y="2414016"/>
            <a:ext cx="3108960" cy="713232"/>
          </a:xfrm>
          <a:prstGeom prst="rect">
            <a:avLst/>
          </a:prstGeom>
          <a:solidFill>
            <a:srgbClr val="3A7D6A"/>
          </a:solidFill>
          <a:ln w="12700">
            <a:solidFill>
              <a:srgbClr val="3A7D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24688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Gain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274320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+3.76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06440" y="3218688"/>
            <a:ext cx="3108960" cy="7132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32735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Gain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97880" y="354787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+31.3%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82880" y="420624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on fixed 3,000-pair IIT Bombay test set under identical inference conditions.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Translations &amp; Literary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pic>
        <p:nvPicPr>
          <p:cNvPr id="5" name="Image 0" descr="/home/claude/report_work/figs/fig6_hindi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8778240" cy="2267712"/>
          </a:xfrm>
          <a:prstGeom prst="rect">
            <a:avLst/>
          </a:prstGeom>
        </p:spPr>
      </p:pic>
      <p:pic>
        <p:nvPicPr>
          <p:cNvPr id="6" name="Image 1" descr="/home/claude/report_work/figs/fig_poos_ki_ra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090672"/>
            <a:ext cx="4297680" cy="1874520"/>
          </a:xfrm>
          <a:prstGeom prst="rect">
            <a:avLst/>
          </a:prstGeom>
        </p:spPr>
      </p:pic>
      <p:pic>
        <p:nvPicPr>
          <p:cNvPr id="7" name="Image 2" descr="/home/claude/report_work/figs/fig_do_bail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090672"/>
            <a:ext cx="429768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78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DAPT + LaBSE: BLEU 12.01 → 15.77 (+31.3%)  ·  Best-in-class among Helsinki variants  ·  Literary BLEU +3.4 to +3.9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40233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DAPT epoch on 150K quality-filtered pairs yields +31.3% BLEU on a general-domain benchmark.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are robust: they extend to classical Hindi literary texts (figurative language, dialogue, idioms).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Adafactor + FP16 keeps training feasible on free-tier Kaggle GPUs (dual T4, ≈3–4 h).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63440" y="1719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103120"/>
            <a:ext cx="40233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Multi-epoch DAPT with cosine LR decay may yield an additional +1–2 BLEU.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fine-tuning on 50K IIT Bombay pairs + back-translation for diversity.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spoken/social-media Hindi; evaluate with TER and human judges.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C07828"/>
          </a:solidFill>
          <a:ln w="12700">
            <a:solidFill>
              <a:srgbClr val="C0782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Translating Classic Hindi Literature into English using NLP/GenAI</dc:title>
  <dc:subject>PptxGenJS Presentation</dc:subject>
  <dc:creator>PptxGenJS</dc:creator>
  <cp:lastModifiedBy>PptxGenJS</cp:lastModifiedBy>
  <cp:revision>1</cp:revision>
  <dcterms:created xsi:type="dcterms:W3CDTF">2026-04-17T10:55:50Z</dcterms:created>
  <dcterms:modified xsi:type="dcterms:W3CDTF">2026-04-17T10:55:50Z</dcterms:modified>
</cp:coreProperties>
</file>